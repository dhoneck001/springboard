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9144000"/>
  <p:notesSz cx="6858000" cy="9144000"/>
  <p:embeddedFontLst>
    <p:embeddedFont>
      <p:font typeface="Quattrocento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EA9A89-1F20-40D1-A1E0-5A71F5955D58}">
  <a:tblStyle styleId="{98EA9A89-1F20-40D1-A1E0-5A71F5955D5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QuattrocentoSans-bold.fntdata"/><Relationship Id="rId12" Type="http://schemas.openxmlformats.org/officeDocument/2006/relationships/font" Target="fonts/Quattrocento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QuattrocentoSans-boldItalic.fntdata"/><Relationship Id="rId14" Type="http://schemas.openxmlformats.org/officeDocument/2006/relationships/font" Target="fonts/Quattrocento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A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6042320" y="9493393"/>
            <a:ext cx="169918" cy="1846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AU" sz="1800" u="none" cap="none" strike="noStrike">
                <a:solidFill>
                  <a:srgbClr val="000000"/>
                </a:solidFill>
              </a:rPr>
              <a:t>‹#›</a:t>
            </a:fld>
            <a:endParaRPr b="0" i="0" sz="1800" u="none" cap="none" strike="noStrike">
              <a:solidFill>
                <a:srgbClr val="000000"/>
              </a:solidFill>
            </a:endParaRPr>
          </a:p>
        </p:txBody>
      </p:sp>
      <p:sp>
        <p:nvSpPr>
          <p:cNvPr id="17" name="Google Shape;17;p1:notes"/>
          <p:cNvSpPr/>
          <p:nvPr>
            <p:ph idx="2" type="sldImg"/>
          </p:nvPr>
        </p:nvSpPr>
        <p:spPr>
          <a:xfrm>
            <a:off x="-2319338" y="1265238"/>
            <a:ext cx="11201401" cy="8401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789535" y="605318"/>
            <a:ext cx="547079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AU"/>
              <a:t>Hypothesis: </a:t>
            </a:r>
            <a:r>
              <a:rPr b="0" i="1" lang="en-A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Hypothesis with an emphasis on SMART principles. </a:t>
            </a:r>
            <a:r>
              <a:rPr b="1" i="1" lang="en-A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1" lang="en-AU" sz="1200"/>
              <a:t>S – Specific, M – Measurable, A – Achievable, R – Realistic, T – Timebound). </a:t>
            </a:r>
            <a:r>
              <a:rPr b="0" i="0" lang="en-AU" sz="1200"/>
              <a:t>If you cannot do this, you </a:t>
            </a:r>
            <a:r>
              <a:rPr b="1" i="0" lang="en-AU" sz="1200"/>
              <a:t>do not</a:t>
            </a:r>
            <a:r>
              <a:rPr b="0" i="0" lang="en-AU" sz="1200"/>
              <a:t> have a good grasp on the business problem.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AU"/>
              <a:t>Context: </a:t>
            </a:r>
            <a:r>
              <a:rPr lang="en-AU" sz="1200"/>
              <a:t>With context, we have </a:t>
            </a:r>
            <a:r>
              <a:rPr b="1" lang="en-AU" sz="1200" u="sng"/>
              <a:t>clearly identified the problem at hand </a:t>
            </a:r>
            <a:r>
              <a:rPr lang="en-AU" sz="1200"/>
              <a:t>and have elucidated on how our initiative may solve this problem, alongside the commercial implications this will have on the business.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Criteria for Success</a:t>
            </a:r>
            <a:r>
              <a:rPr b="0" lang="en-AU"/>
              <a:t>: Clearly defining the criteria for success ensures that the scope of your work is clearly defined and understood. Otherwise, if this isn’t defined – your work will never end which will result in mismatched expectations.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Scope of Solution Space: </a:t>
            </a:r>
            <a:r>
              <a:rPr b="0" lang="en-AU"/>
              <a:t>Scoping out the solution space ensures that the business initiative is SPECIFIC for a certain segment or area. This prevents solutions that have been developed being scaled and applied for all other business units that the solution may not be responsible or scalable for.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Constraints within Solution Space: </a:t>
            </a:r>
            <a:r>
              <a:rPr b="0" lang="en-AU"/>
              <a:t>Looking forward, what are the foreseeable problems we are likely to encounter? Could this be stakeholder resistance? Could this be we don’t have access to the right data?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Stakeholders to provide key insight: </a:t>
            </a:r>
            <a:r>
              <a:rPr b="0" lang="en-AU"/>
              <a:t>Who are the people I need to speak to, to get the answers I need for my data analysis?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What key data sources are required</a:t>
            </a:r>
            <a:r>
              <a:rPr b="0" lang="en-AU"/>
              <a:t>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AU"/>
              <a:t>Based off my discussions with the key stakeholders – can we clearly list out all the data sources we need so we can make a highly targeted request as opposed to a scatter-gun approach where we ask for a bit of everything?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41915fae07_0_0:notes"/>
          <p:cNvSpPr txBox="1"/>
          <p:nvPr>
            <p:ph idx="12" type="sldNum"/>
          </p:nvPr>
        </p:nvSpPr>
        <p:spPr>
          <a:xfrm>
            <a:off x="6042320" y="9493393"/>
            <a:ext cx="16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AU" sz="1800" u="none" cap="none" strike="noStrike">
                <a:solidFill>
                  <a:srgbClr val="000000"/>
                </a:solidFill>
              </a:rPr>
              <a:t>‹#›</a:t>
            </a:fld>
            <a:endParaRPr b="0" i="0" sz="1800" u="none" cap="none" strike="noStrike">
              <a:solidFill>
                <a:srgbClr val="000000"/>
              </a:solidFill>
            </a:endParaRPr>
          </a:p>
        </p:txBody>
      </p:sp>
      <p:sp>
        <p:nvSpPr>
          <p:cNvPr id="51" name="Google Shape;51;g341915fae07_0_0:notes"/>
          <p:cNvSpPr/>
          <p:nvPr>
            <p:ph idx="2" type="sldImg"/>
          </p:nvPr>
        </p:nvSpPr>
        <p:spPr>
          <a:xfrm>
            <a:off x="-2319338" y="1265238"/>
            <a:ext cx="11201400" cy="840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g341915fae07_0_0:notes"/>
          <p:cNvSpPr txBox="1"/>
          <p:nvPr>
            <p:ph idx="1" type="body"/>
          </p:nvPr>
        </p:nvSpPr>
        <p:spPr>
          <a:xfrm>
            <a:off x="789535" y="605318"/>
            <a:ext cx="5470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AU"/>
              <a:t>Hypothesis: </a:t>
            </a:r>
            <a:r>
              <a:rPr b="0" i="1" lang="en-A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Hypothesis with an emphasis on SMART principles. </a:t>
            </a:r>
            <a:r>
              <a:rPr b="1" i="1" lang="en-A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1" lang="en-AU" sz="1200"/>
              <a:t>S – Specific, M – Measurable, A – Achievable, R – Realistic, T – Timebound). </a:t>
            </a:r>
            <a:r>
              <a:rPr b="0" i="0" lang="en-AU" sz="1200"/>
              <a:t>If you cannot do this, you </a:t>
            </a:r>
            <a:r>
              <a:rPr b="1" i="0" lang="en-AU" sz="1200"/>
              <a:t>do not</a:t>
            </a:r>
            <a:r>
              <a:rPr b="0" i="0" lang="en-AU" sz="1200"/>
              <a:t> have a good grasp on the business problem.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AU"/>
              <a:t>Context: </a:t>
            </a:r>
            <a:r>
              <a:rPr lang="en-AU" sz="1200"/>
              <a:t>With context, we have </a:t>
            </a:r>
            <a:r>
              <a:rPr b="1" lang="en-AU" sz="1200" u="sng"/>
              <a:t>clearly identified the problem at hand </a:t>
            </a:r>
            <a:r>
              <a:rPr lang="en-AU" sz="1200"/>
              <a:t>and have elucidated on how our initiative may solve this problem, alongside the commercial implications this will have on the business.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Criteria for Success</a:t>
            </a:r>
            <a:r>
              <a:rPr b="0" lang="en-AU"/>
              <a:t>: Clearly defining the criteria for success ensures that the scope of your work is clearly defined and understood. Otherwise, if this isn’t defined – your work will never end which will result in mismatched expectations.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Scope of Solution Space: </a:t>
            </a:r>
            <a:r>
              <a:rPr b="0" lang="en-AU"/>
              <a:t>Scoping out the solution space ensures that the business initiative is SPECIFIC for a certain segment or area. This prevents solutions that have been developed being scaled and applied for all other business units that the solution may not be responsible or scalable for.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Constraints within Solution Space: </a:t>
            </a:r>
            <a:r>
              <a:rPr b="0" lang="en-AU"/>
              <a:t>Looking forward, what are the foreseeable problems we are likely to encounter? Could this be stakeholder resistance? Could this be we don’t have access to the right data?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Stakeholders to provide key insight: </a:t>
            </a:r>
            <a:r>
              <a:rPr b="0" lang="en-AU"/>
              <a:t>Who are the people I need to speak to, to get the answers I need for my data analysis?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What key data sources are required</a:t>
            </a:r>
            <a:r>
              <a:rPr b="0" lang="en-AU"/>
              <a:t>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AU"/>
              <a:t>Based off my discussions with the key stakeholders – can we clearly list out all the data sources we need so we can make a highly targeted request as opposed to a scatter-gun approach where we ask for a bit of everything?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1915fae07_0_46:notes"/>
          <p:cNvSpPr txBox="1"/>
          <p:nvPr>
            <p:ph idx="12" type="sldNum"/>
          </p:nvPr>
        </p:nvSpPr>
        <p:spPr>
          <a:xfrm>
            <a:off x="6042320" y="9493393"/>
            <a:ext cx="16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AU" sz="1800" u="none" cap="none" strike="noStrike">
                <a:solidFill>
                  <a:srgbClr val="000000"/>
                </a:solidFill>
              </a:rPr>
              <a:t>‹#›</a:t>
            </a:fld>
            <a:endParaRPr b="0" i="0" sz="1800" u="none" cap="none" strike="noStrike">
              <a:solidFill>
                <a:srgbClr val="000000"/>
              </a:solidFill>
            </a:endParaRPr>
          </a:p>
        </p:txBody>
      </p:sp>
      <p:sp>
        <p:nvSpPr>
          <p:cNvPr id="83" name="Google Shape;83;g341915fae07_0_46:notes"/>
          <p:cNvSpPr/>
          <p:nvPr>
            <p:ph idx="2" type="sldImg"/>
          </p:nvPr>
        </p:nvSpPr>
        <p:spPr>
          <a:xfrm>
            <a:off x="-2319338" y="1265238"/>
            <a:ext cx="11201400" cy="840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g341915fae07_0_46:notes"/>
          <p:cNvSpPr txBox="1"/>
          <p:nvPr>
            <p:ph idx="1" type="body"/>
          </p:nvPr>
        </p:nvSpPr>
        <p:spPr>
          <a:xfrm>
            <a:off x="789535" y="605318"/>
            <a:ext cx="5470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AU"/>
              <a:t>Hypothesis: </a:t>
            </a:r>
            <a:r>
              <a:rPr b="0" i="1" lang="en-A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Hypothesis with an emphasis on SMART principles. </a:t>
            </a:r>
            <a:r>
              <a:rPr b="1" i="1" lang="en-A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1" lang="en-AU" sz="1200"/>
              <a:t>S – Specific, M – Measurable, A – Achievable, R – Realistic, T – Timebound). </a:t>
            </a:r>
            <a:r>
              <a:rPr b="0" i="0" lang="en-AU" sz="1200"/>
              <a:t>If you cannot do this, you </a:t>
            </a:r>
            <a:r>
              <a:rPr b="1" i="0" lang="en-AU" sz="1200"/>
              <a:t>do not</a:t>
            </a:r>
            <a:r>
              <a:rPr b="0" i="0" lang="en-AU" sz="1200"/>
              <a:t> have a good grasp on the business problem.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AU"/>
              <a:t>Context: </a:t>
            </a:r>
            <a:r>
              <a:rPr lang="en-AU" sz="1200"/>
              <a:t>With context, we have </a:t>
            </a:r>
            <a:r>
              <a:rPr b="1" lang="en-AU" sz="1200" u="sng"/>
              <a:t>clearly identified the problem at hand </a:t>
            </a:r>
            <a:r>
              <a:rPr lang="en-AU" sz="1200"/>
              <a:t>and have elucidated on how our initiative may solve this problem, alongside the commercial implications this will have on the business.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Criteria for Success</a:t>
            </a:r>
            <a:r>
              <a:rPr b="0" lang="en-AU"/>
              <a:t>: Clearly defining the criteria for success ensures that the scope of your work is clearly defined and understood. Otherwise, if this isn’t defined – your work will never end which will result in mismatched expectations.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Scope of Solution Space: </a:t>
            </a:r>
            <a:r>
              <a:rPr b="0" lang="en-AU"/>
              <a:t>Scoping out the solution space ensures that the business initiative is SPECIFIC for a certain segment or area. This prevents solutions that have been developed being scaled and applied for all other business units that the solution may not be responsible or scalable for.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Constraints within Solution Space: </a:t>
            </a:r>
            <a:r>
              <a:rPr b="0" lang="en-AU"/>
              <a:t>Looking forward, what are the foreseeable problems we are likely to encounter? Could this be stakeholder resistance? Could this be we don’t have access to the right data?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Stakeholders to provide key insight: </a:t>
            </a:r>
            <a:r>
              <a:rPr b="0" lang="en-AU"/>
              <a:t>Who are the people I need to speak to, to get the answers I need for my data analysis?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What key data sources are required</a:t>
            </a:r>
            <a:r>
              <a:rPr b="0" lang="en-AU"/>
              <a:t>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AU"/>
              <a:t>Based off my discussions with the key stakeholders – can we clearly list out all the data sources we need so we can make a highly targeted request as opposed to a scatter-gun approach where we ask for a bit of everything?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315ed7e13_0_5:notes"/>
          <p:cNvSpPr txBox="1"/>
          <p:nvPr>
            <p:ph idx="12" type="sldNum"/>
          </p:nvPr>
        </p:nvSpPr>
        <p:spPr>
          <a:xfrm>
            <a:off x="6042320" y="9493393"/>
            <a:ext cx="16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AU" sz="1800" u="none" cap="none" strike="noStrike">
                <a:solidFill>
                  <a:srgbClr val="000000"/>
                </a:solidFill>
              </a:rPr>
              <a:t>‹#›</a:t>
            </a:fld>
            <a:endParaRPr b="0" i="0" sz="1800" u="none" cap="none" strike="noStrike">
              <a:solidFill>
                <a:srgbClr val="000000"/>
              </a:solidFill>
            </a:endParaRPr>
          </a:p>
        </p:txBody>
      </p:sp>
      <p:sp>
        <p:nvSpPr>
          <p:cNvPr id="114" name="Google Shape;114;g34315ed7e13_0_5:notes"/>
          <p:cNvSpPr/>
          <p:nvPr>
            <p:ph idx="2" type="sldImg"/>
          </p:nvPr>
        </p:nvSpPr>
        <p:spPr>
          <a:xfrm>
            <a:off x="-2319338" y="1265238"/>
            <a:ext cx="11201400" cy="840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g34315ed7e13_0_5:notes"/>
          <p:cNvSpPr txBox="1"/>
          <p:nvPr>
            <p:ph idx="1" type="body"/>
          </p:nvPr>
        </p:nvSpPr>
        <p:spPr>
          <a:xfrm>
            <a:off x="789535" y="605318"/>
            <a:ext cx="5470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AU"/>
              <a:t>Hypothesis: </a:t>
            </a:r>
            <a:r>
              <a:rPr b="0" i="1" lang="en-A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Hypothesis with an emphasis on SMART principles. </a:t>
            </a:r>
            <a:r>
              <a:rPr b="1" i="1" lang="en-A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1" lang="en-AU" sz="1200"/>
              <a:t>S – Specific, M – Measurable, A – Achievable, R – Realistic, T – Timebound). </a:t>
            </a:r>
            <a:r>
              <a:rPr b="0" i="0" lang="en-AU" sz="1200"/>
              <a:t>If you cannot do this, you </a:t>
            </a:r>
            <a:r>
              <a:rPr b="1" i="0" lang="en-AU" sz="1200"/>
              <a:t>do not</a:t>
            </a:r>
            <a:r>
              <a:rPr b="0" i="0" lang="en-AU" sz="1200"/>
              <a:t> have a good grasp on the business problem.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AU"/>
              <a:t>Context: </a:t>
            </a:r>
            <a:r>
              <a:rPr lang="en-AU" sz="1200"/>
              <a:t>With context, we have </a:t>
            </a:r>
            <a:r>
              <a:rPr b="1" lang="en-AU" sz="1200" u="sng"/>
              <a:t>clearly identified the problem at hand </a:t>
            </a:r>
            <a:r>
              <a:rPr lang="en-AU" sz="1200"/>
              <a:t>and have elucidated on how our initiative may solve this problem, alongside the commercial implications this will have on the business.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Criteria for Success</a:t>
            </a:r>
            <a:r>
              <a:rPr b="0" lang="en-AU"/>
              <a:t>: Clearly defining the criteria for success ensures that the scope of your work is clearly defined and understood. Otherwise, if this isn’t defined – your work will never end which will result in mismatched expectations.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Scope of Solution Space: </a:t>
            </a:r>
            <a:r>
              <a:rPr b="0" lang="en-AU"/>
              <a:t>Scoping out the solution space ensures that the business initiative is SPECIFIC for a certain segment or area. This prevents solutions that have been developed being scaled and applied for all other business units that the solution may not be responsible or scalable for.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Constraints within Solution Space: </a:t>
            </a:r>
            <a:r>
              <a:rPr b="0" lang="en-AU"/>
              <a:t>Looking forward, what are the foreseeable problems we are likely to encounter? Could this be stakeholder resistance? Could this be we don’t have access to the right data?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Stakeholders to provide key insight: </a:t>
            </a:r>
            <a:r>
              <a:rPr b="0" lang="en-AU"/>
              <a:t>Who are the people I need to speak to, to get the answers I need for my data analysis?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What key data sources are required</a:t>
            </a:r>
            <a:r>
              <a:rPr b="0" lang="en-AU"/>
              <a:t>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AU"/>
              <a:t>Based off my discussions with the key stakeholders – can we clearly list out all the data sources we need so we can make a highly targeted request as opposed to a scatter-gun approach where we ask for a bit of everything?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315ed7e13_0_43:notes"/>
          <p:cNvSpPr txBox="1"/>
          <p:nvPr>
            <p:ph idx="12" type="sldNum"/>
          </p:nvPr>
        </p:nvSpPr>
        <p:spPr>
          <a:xfrm>
            <a:off x="6042320" y="9493393"/>
            <a:ext cx="16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AU" sz="1800" u="none" cap="none" strike="noStrike">
                <a:solidFill>
                  <a:srgbClr val="000000"/>
                </a:solidFill>
              </a:rPr>
              <a:t>‹#›</a:t>
            </a:fld>
            <a:endParaRPr b="0" i="0" sz="1800" u="none" cap="none" strike="noStrike">
              <a:solidFill>
                <a:srgbClr val="000000"/>
              </a:solidFill>
            </a:endParaRPr>
          </a:p>
        </p:txBody>
      </p:sp>
      <p:sp>
        <p:nvSpPr>
          <p:cNvPr id="144" name="Google Shape;144;g34315ed7e13_0_43:notes"/>
          <p:cNvSpPr/>
          <p:nvPr>
            <p:ph idx="2" type="sldImg"/>
          </p:nvPr>
        </p:nvSpPr>
        <p:spPr>
          <a:xfrm>
            <a:off x="-2319338" y="1265238"/>
            <a:ext cx="11201400" cy="840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g34315ed7e13_0_43:notes"/>
          <p:cNvSpPr txBox="1"/>
          <p:nvPr>
            <p:ph idx="1" type="body"/>
          </p:nvPr>
        </p:nvSpPr>
        <p:spPr>
          <a:xfrm>
            <a:off x="789535" y="605318"/>
            <a:ext cx="5470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AU"/>
              <a:t>Hypothesis: </a:t>
            </a:r>
            <a:r>
              <a:rPr b="0" i="1" lang="en-A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Hypothesis with an emphasis on SMART principles. </a:t>
            </a:r>
            <a:r>
              <a:rPr b="1" i="1" lang="en-A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1" lang="en-AU" sz="1200"/>
              <a:t>S – Specific, M – Measurable, A – Achievable, R – Realistic, T – Timebound). </a:t>
            </a:r>
            <a:r>
              <a:rPr b="0" i="0" lang="en-AU" sz="1200"/>
              <a:t>If you cannot do this, you </a:t>
            </a:r>
            <a:r>
              <a:rPr b="1" i="0" lang="en-AU" sz="1200"/>
              <a:t>do not</a:t>
            </a:r>
            <a:r>
              <a:rPr b="0" i="0" lang="en-AU" sz="1200"/>
              <a:t> have a good grasp on the business problem.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AU"/>
              <a:t>Context: </a:t>
            </a:r>
            <a:r>
              <a:rPr lang="en-AU" sz="1200"/>
              <a:t>With context, we have </a:t>
            </a:r>
            <a:r>
              <a:rPr b="1" lang="en-AU" sz="1200" u="sng"/>
              <a:t>clearly identified the problem at hand </a:t>
            </a:r>
            <a:r>
              <a:rPr lang="en-AU" sz="1200"/>
              <a:t>and have elucidated on how our initiative may solve this problem, alongside the commercial implications this will have on the business.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Criteria for Success</a:t>
            </a:r>
            <a:r>
              <a:rPr b="0" lang="en-AU"/>
              <a:t>: Clearly defining the criteria for success ensures that the scope of your work is clearly defined and understood. Otherwise, if this isn’t defined – your work will never end which will result in mismatched expectations.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Scope of Solution Space: </a:t>
            </a:r>
            <a:r>
              <a:rPr b="0" lang="en-AU"/>
              <a:t>Scoping out the solution space ensures that the business initiative is SPECIFIC for a certain segment or area. This prevents solutions that have been developed being scaled and applied for all other business units that the solution may not be responsible or scalable for.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Constraints within Solution Space: </a:t>
            </a:r>
            <a:r>
              <a:rPr b="0" lang="en-AU"/>
              <a:t>Looking forward, what are the foreseeable problems we are likely to encounter? Could this be stakeholder resistance? Could this be we don’t have access to the right data?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Stakeholders to provide key insight: </a:t>
            </a:r>
            <a:r>
              <a:rPr b="0" lang="en-AU"/>
              <a:t>Who are the people I need to speak to, to get the answers I need for my data analysis?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What key data sources are required</a:t>
            </a:r>
            <a:r>
              <a:rPr b="0" lang="en-AU"/>
              <a:t>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AU"/>
              <a:t>Based off my discussions with the key stakeholders – can we clearly list out all the data sources we need so we can make a highly targeted request as opposed to a scatter-gun approach where we ask for a bit of everything?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8298444" y="37255"/>
            <a:ext cx="670614" cy="12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6"/>
              <a:buFont typeface="Arial"/>
              <a:buNone/>
            </a:pPr>
            <a:r>
              <a:t/>
            </a:r>
            <a:endParaRPr b="0" i="0" sz="81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2343099" y="2570857"/>
            <a:ext cx="4389768" cy="125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40"/>
              <a:buFont typeface="Arial"/>
              <a:buChar char="▪"/>
              <a:defRPr b="0" i="0" sz="16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2933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–"/>
              <a:defRPr b="0" i="0" sz="16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2933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▫"/>
              <a:defRPr b="0" i="0" sz="16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0801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b="0" i="0" sz="16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0801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b="0" i="0" sz="16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0801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b="0" i="0" sz="16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0802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b="0" i="0" sz="16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0802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b="0" i="0" sz="16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3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3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3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3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3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3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3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3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3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137949" y="1576013"/>
            <a:ext cx="4344156" cy="468106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t/>
            </a:r>
            <a:endParaRPr b="0" i="0" sz="14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87388" y="1576013"/>
            <a:ext cx="4344156" cy="468106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t/>
            </a:r>
            <a:endParaRPr b="0" i="0" sz="14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18936" y="1618127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2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668375" y="1618127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01195" y="165018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050634" y="165018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Constraints within solution 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668375" y="3207096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218936" y="3207096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01195" y="3239152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Criteria for success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050634" y="3239152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Stakeholders to provide key insight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218936" y="4797685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68375" y="4797685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01195" y="4831972"/>
            <a:ext cx="3597454" cy="219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Scope of solution space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050634" y="482974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data sources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 txBox="1"/>
          <p:nvPr/>
        </p:nvSpPr>
        <p:spPr>
          <a:xfrm>
            <a:off x="143108" y="1964976"/>
            <a:ext cx="4324418" cy="12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rPr lang="en-AU"/>
              <a:t>Big Mountain Resort, a ski and snowboard resort located in Montana near Glacier National Park. To make the best use of facilities and maximize revenue, the business wants data-driven guidance for  ticket pricing.</a:t>
            </a:r>
            <a:endParaRPr/>
          </a:p>
        </p:txBody>
      </p:sp>
      <p:sp>
        <p:nvSpPr>
          <p:cNvPr id="35" name="Google Shape;35;p3"/>
          <p:cNvSpPr txBox="1"/>
          <p:nvPr/>
        </p:nvSpPr>
        <p:spPr>
          <a:xfrm>
            <a:off x="143108" y="3538874"/>
            <a:ext cx="4324418" cy="1410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660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1"/>
              <a:buFont typeface="Arial"/>
              <a:buChar char="●"/>
            </a:pPr>
            <a:r>
              <a:rPr b="1" lang="en-AU" sz="1071"/>
              <a:t>Avoid undermining ticket price</a:t>
            </a:r>
            <a:endParaRPr b="1" sz="1071"/>
          </a:p>
          <a:p>
            <a:pPr indent="-29660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1"/>
              <a:buFont typeface="Arial"/>
              <a:buChar char="●"/>
            </a:pPr>
            <a:r>
              <a:rPr b="1" lang="en-AU" sz="1071"/>
              <a:t>Evaluate how important some facilities are compared to others</a:t>
            </a:r>
            <a:endParaRPr b="1" sz="1071"/>
          </a:p>
          <a:p>
            <a:pPr indent="-29660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b="1" lang="en-AU" sz="1071"/>
              <a:t>Analysis report delivered  by</a:t>
            </a:r>
            <a:r>
              <a:rPr b="1" i="1" lang="en-AU" sz="1071"/>
              <a:t> __date _</a:t>
            </a:r>
            <a:r>
              <a:rPr b="1" lang="en-AU" sz="1071"/>
              <a:t>.</a:t>
            </a:r>
            <a:endParaRPr b="1" sz="1071"/>
          </a:p>
        </p:txBody>
      </p:sp>
      <p:sp>
        <p:nvSpPr>
          <p:cNvPr id="36" name="Google Shape;36;p3"/>
          <p:cNvSpPr txBox="1"/>
          <p:nvPr/>
        </p:nvSpPr>
        <p:spPr>
          <a:xfrm>
            <a:off x="186842" y="5184805"/>
            <a:ext cx="4324418" cy="751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1"/>
              <a:buFont typeface="Arial"/>
              <a:buNone/>
            </a:pPr>
            <a:r>
              <a:rPr lang="en-AU" sz="1071"/>
              <a:t>This analysis focuses on a pricing model for Big Mountain Resort. </a:t>
            </a:r>
            <a:endParaRPr sz="107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1"/>
              <a:buFont typeface="Arial"/>
              <a:buNone/>
            </a:pPr>
            <a:r>
              <a:t/>
            </a:r>
            <a:endParaRPr sz="107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1"/>
              <a:buFont typeface="Arial"/>
              <a:buNone/>
            </a:pPr>
            <a:r>
              <a:rPr lang="en-AU" sz="1071"/>
              <a:t>Efforts to cut costs or change operations are outside the scope of this analysis.</a:t>
            </a:r>
            <a:endParaRPr sz="1071"/>
          </a:p>
        </p:txBody>
      </p:sp>
      <p:sp>
        <p:nvSpPr>
          <p:cNvPr id="37" name="Google Shape;37;p3"/>
          <p:cNvSpPr txBox="1"/>
          <p:nvPr/>
        </p:nvSpPr>
        <p:spPr>
          <a:xfrm>
            <a:off x="4668375" y="1963925"/>
            <a:ext cx="42471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270000" spcFirstLastPara="1" rIns="91425" wrap="square" tIns="45700">
            <a:noAutofit/>
          </a:bodyPr>
          <a:lstStyle/>
          <a:p>
            <a:pPr indent="-29527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b="1" lang="en-AU" sz="1050"/>
              <a:t>Data about competitors is limited to their </a:t>
            </a:r>
            <a:r>
              <a:rPr b="1" lang="en-AU" sz="1050"/>
              <a:t>facilities and base ticket price</a:t>
            </a:r>
            <a:r>
              <a:rPr b="1" lang="en-AU" sz="1050"/>
              <a:t>, not number of visitors or address</a:t>
            </a:r>
            <a:endParaRPr b="1" sz="1050"/>
          </a:p>
          <a:p>
            <a:pPr indent="-29527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b="1" lang="en-AU" sz="1050"/>
              <a:t>Data about Big Mountain Resort is limited also - no information about which facilities people use or their other consumer behavior, such as day-visits versus multi-day stays</a:t>
            </a:r>
            <a:endParaRPr b="1" sz="1050"/>
          </a:p>
        </p:txBody>
      </p:sp>
      <p:sp>
        <p:nvSpPr>
          <p:cNvPr id="38" name="Google Shape;38;p3"/>
          <p:cNvSpPr txBox="1"/>
          <p:nvPr/>
        </p:nvSpPr>
        <p:spPr>
          <a:xfrm>
            <a:off x="4590925" y="5085175"/>
            <a:ext cx="4324500" cy="11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rPr b="1" lang="en-AU" sz="1070"/>
              <a:t>Known data: </a:t>
            </a:r>
            <a:endParaRPr b="1" sz="1070"/>
          </a:p>
          <a:p>
            <a:pPr indent="-29654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"/>
              <a:buChar char="●"/>
            </a:pPr>
            <a:r>
              <a:rPr b="1" lang="en-AU" sz="1070"/>
              <a:t>CSV file with facility  and competitor info</a:t>
            </a:r>
            <a:endParaRPr b="1" sz="107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rPr b="1" lang="en-AU" sz="1070"/>
              <a:t>Desired data: </a:t>
            </a:r>
            <a:endParaRPr b="1" sz="1070"/>
          </a:p>
          <a:p>
            <a:pPr indent="-296545" lvl="0" marL="457200" rtl="0" algn="l">
              <a:spcBef>
                <a:spcPts val="0"/>
              </a:spcBef>
              <a:spcAft>
                <a:spcPts val="0"/>
              </a:spcAft>
              <a:buSzPts val="1070"/>
              <a:buChar char="●"/>
            </a:pPr>
            <a:r>
              <a:rPr b="1" lang="en-AU" sz="1070"/>
              <a:t>Financial systems- number of tickets on which days of week, consumer repeat purchases, etc</a:t>
            </a:r>
            <a:endParaRPr b="1" sz="1070"/>
          </a:p>
          <a:p>
            <a:pPr indent="-296545" lvl="0" marL="457200" rtl="0" algn="l">
              <a:spcBef>
                <a:spcPts val="0"/>
              </a:spcBef>
              <a:spcAft>
                <a:spcPts val="0"/>
              </a:spcAft>
              <a:buSzPts val="1070"/>
              <a:buChar char="●"/>
            </a:pPr>
            <a:r>
              <a:rPr b="1" lang="en-AU" sz="1070"/>
              <a:t>Logs from equipment </a:t>
            </a:r>
            <a:endParaRPr b="1" sz="1070"/>
          </a:p>
          <a:p>
            <a:pPr indent="-296545" lvl="0" marL="457200" rtl="0" algn="l">
              <a:spcBef>
                <a:spcPts val="0"/>
              </a:spcBef>
              <a:spcAft>
                <a:spcPts val="0"/>
              </a:spcAft>
              <a:buSzPts val="1070"/>
              <a:buChar char="●"/>
            </a:pPr>
            <a:r>
              <a:rPr b="1" lang="en-AU" sz="1070"/>
              <a:t>Tourism market size and trends</a:t>
            </a:r>
            <a:endParaRPr b="1" sz="1070"/>
          </a:p>
        </p:txBody>
      </p:sp>
      <p:sp>
        <p:nvSpPr>
          <p:cNvPr id="39" name="Google Shape;39;p3"/>
          <p:cNvSpPr/>
          <p:nvPr/>
        </p:nvSpPr>
        <p:spPr>
          <a:xfrm>
            <a:off x="6633337" y="6524418"/>
            <a:ext cx="432048" cy="205317"/>
          </a:xfrm>
          <a:prstGeom prst="chevron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7028512" y="6513711"/>
            <a:ext cx="432048" cy="216024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7452320" y="6503004"/>
            <a:ext cx="432048" cy="216024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7846662" y="6508081"/>
            <a:ext cx="432048" cy="216024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8245692" y="6503004"/>
            <a:ext cx="432048" cy="216024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8099130" y="707128"/>
            <a:ext cx="432048" cy="205317"/>
          </a:xfrm>
          <a:prstGeom prst="chevron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121750" y="116631"/>
            <a:ext cx="7724912" cy="1137079"/>
          </a:xfrm>
          <a:prstGeom prst="wedgeRectCallout">
            <a:avLst>
              <a:gd fmla="val 53513" name="adj1"/>
              <a:gd fmla="val 6588" name="adj2"/>
            </a:avLst>
          </a:prstGeom>
          <a:solidFill>
            <a:srgbClr val="FEF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 txBox="1"/>
          <p:nvPr>
            <p:ph type="title"/>
          </p:nvPr>
        </p:nvSpPr>
        <p:spPr>
          <a:xfrm>
            <a:off x="184140" y="189590"/>
            <a:ext cx="87935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sz="2000">
                <a:solidFill>
                  <a:srgbClr val="2974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</a:t>
            </a:r>
            <a:endParaRPr/>
          </a:p>
        </p:txBody>
      </p:sp>
      <p:sp>
        <p:nvSpPr>
          <p:cNvPr id="47" name="Google Shape;47;p3"/>
          <p:cNvSpPr txBox="1"/>
          <p:nvPr/>
        </p:nvSpPr>
        <p:spPr>
          <a:xfrm>
            <a:off x="4629714" y="3589975"/>
            <a:ext cx="43245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1"/>
              <a:buFont typeface="Arial"/>
              <a:buNone/>
            </a:pPr>
            <a:r>
              <a:rPr lang="en-AU" sz="1050"/>
              <a:t>Known contacts: </a:t>
            </a:r>
            <a:endParaRPr sz="10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1"/>
              <a:buFont typeface="Arial"/>
              <a:buNone/>
            </a:pPr>
            <a:r>
              <a:rPr lang="en-AU" sz="1050"/>
              <a:t>Director of Operations, Jimmy Blackburn</a:t>
            </a:r>
            <a:endParaRPr sz="10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1"/>
              <a:buFont typeface="Arial"/>
              <a:buNone/>
            </a:pPr>
            <a:r>
              <a:rPr lang="en-AU" sz="1050"/>
              <a:t>Database Manager, Alesha Eisen</a:t>
            </a:r>
            <a:endParaRPr sz="10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1"/>
              <a:buFont typeface="Arial"/>
              <a:buNone/>
            </a:pPr>
            <a:r>
              <a:t/>
            </a:r>
            <a:endParaRPr sz="10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1"/>
              <a:buFont typeface="Arial"/>
              <a:buNone/>
            </a:pPr>
            <a:r>
              <a:rPr lang="en-AU" sz="1050"/>
              <a:t>Desired additional contacts: managers of the various facilities at Big Mountain Resort, local chamber of commerce for tourism data</a:t>
            </a:r>
            <a:endParaRPr sz="1050"/>
          </a:p>
        </p:txBody>
      </p:sp>
      <p:sp>
        <p:nvSpPr>
          <p:cNvPr id="48" name="Google Shape;48;p3"/>
          <p:cNvSpPr txBox="1"/>
          <p:nvPr/>
        </p:nvSpPr>
        <p:spPr>
          <a:xfrm>
            <a:off x="184150" y="563575"/>
            <a:ext cx="80055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AU"/>
              <a:t>What </a:t>
            </a:r>
            <a:r>
              <a:rPr b="1" lang="en-AU"/>
              <a:t>opportunities</a:t>
            </a:r>
            <a:r>
              <a:rPr b="1" lang="en-AU"/>
              <a:t> exist for Big Mountain Resort to select a better value for their ticket prices?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/>
          <p:nvPr/>
        </p:nvSpPr>
        <p:spPr>
          <a:xfrm>
            <a:off x="137949" y="1576013"/>
            <a:ext cx="4344300" cy="4681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t/>
            </a:r>
            <a:endParaRPr b="0" i="0" sz="14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87388" y="1576013"/>
            <a:ext cx="4344300" cy="4681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t/>
            </a:r>
            <a:endParaRPr b="0" i="0" sz="14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18936" y="1618127"/>
            <a:ext cx="288300" cy="288300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2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668375" y="3980327"/>
            <a:ext cx="288300" cy="288300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01195" y="1650181"/>
            <a:ext cx="35976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Data starting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050634" y="4012381"/>
            <a:ext cx="35976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What about Weekend vs Weekday price?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18936" y="3207096"/>
            <a:ext cx="288300" cy="288300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01195" y="3239152"/>
            <a:ext cx="35976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Evaluate existing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18936" y="4797685"/>
            <a:ext cx="288300" cy="288300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01195" y="4831972"/>
            <a:ext cx="359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Initial Data Cleansing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143108" y="1964976"/>
            <a:ext cx="4324500" cy="12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rPr lang="en-AU"/>
              <a:t>Big Mountain Resort management provided a CSV file, ski_resort_data.csv, with facilities and ticket price information for ski resorts throughout the US.</a:t>
            </a:r>
            <a:endParaRPr/>
          </a:p>
        </p:txBody>
      </p:sp>
      <p:sp>
        <p:nvSpPr>
          <p:cNvPr id="65" name="Google Shape;65;p4"/>
          <p:cNvSpPr txBox="1"/>
          <p:nvPr/>
        </p:nvSpPr>
        <p:spPr>
          <a:xfrm>
            <a:off x="143108" y="3538874"/>
            <a:ext cx="4324500" cy="14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660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-AU" sz="1071"/>
              <a:t>330 rows, corresponding to 330 ski resorts across the US.</a:t>
            </a:r>
            <a:endParaRPr sz="1071"/>
          </a:p>
          <a:p>
            <a:pPr indent="-296608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1"/>
              <a:buChar char="○"/>
            </a:pPr>
            <a:r>
              <a:rPr lang="en-AU" sz="1071"/>
              <a:t>Initial summary and descriptive statistics</a:t>
            </a:r>
            <a:endParaRPr sz="1071"/>
          </a:p>
          <a:p>
            <a:pPr indent="-296608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1"/>
              <a:buChar char="○"/>
            </a:pPr>
            <a:r>
              <a:rPr lang="en-AU" sz="1071"/>
              <a:t>By-state evaluation</a:t>
            </a:r>
            <a:endParaRPr sz="1071"/>
          </a:p>
          <a:p>
            <a:pPr indent="-29660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-AU" sz="1071"/>
              <a:t>Integrated state population and </a:t>
            </a:r>
            <a:r>
              <a:rPr lang="en-AU" sz="1071"/>
              <a:t>area</a:t>
            </a:r>
            <a:r>
              <a:rPr lang="en-AU" sz="1071"/>
              <a:t> data from Wikipedia</a:t>
            </a:r>
            <a:endParaRPr sz="107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1"/>
          </a:p>
        </p:txBody>
      </p:sp>
      <p:sp>
        <p:nvSpPr>
          <p:cNvPr id="66" name="Google Shape;66;p4"/>
          <p:cNvSpPr txBox="1"/>
          <p:nvPr/>
        </p:nvSpPr>
        <p:spPr>
          <a:xfrm>
            <a:off x="186842" y="5184805"/>
            <a:ext cx="43245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6608" lvl="0" marL="457200" rtl="0" algn="l"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-AU" sz="1071"/>
              <a:t>Identify missing data and outliers</a:t>
            </a:r>
            <a:endParaRPr sz="1071"/>
          </a:p>
          <a:p>
            <a:pPr indent="-296608" lvl="1" marL="914400" rtl="0" algn="l">
              <a:spcBef>
                <a:spcPts val="0"/>
              </a:spcBef>
              <a:spcAft>
                <a:spcPts val="0"/>
              </a:spcAft>
              <a:buSzPts val="1071"/>
              <a:buChar char="○"/>
            </a:pPr>
            <a:r>
              <a:rPr lang="en-AU" sz="1071"/>
              <a:t>Dropped rows with no price data</a:t>
            </a:r>
            <a:endParaRPr sz="1071"/>
          </a:p>
          <a:p>
            <a:pPr indent="-296608" lvl="1" marL="914400" rtl="0" algn="l">
              <a:spcBef>
                <a:spcPts val="0"/>
              </a:spcBef>
              <a:spcAft>
                <a:spcPts val="0"/>
              </a:spcAft>
              <a:buSzPts val="1071"/>
              <a:buChar char="○"/>
            </a:pPr>
            <a:r>
              <a:rPr lang="en-AU" sz="1071"/>
              <a:t>Investigated outlier data with outside sources, edited in local table</a:t>
            </a:r>
            <a:endParaRPr sz="1071"/>
          </a:p>
        </p:txBody>
      </p:sp>
      <p:sp>
        <p:nvSpPr>
          <p:cNvPr id="67" name="Google Shape;67;p4"/>
          <p:cNvSpPr txBox="1"/>
          <p:nvPr/>
        </p:nvSpPr>
        <p:spPr>
          <a:xfrm>
            <a:off x="4668375" y="4326125"/>
            <a:ext cx="1560300" cy="17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27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/>
              <a:t>In Montana, weekday and weekend ticket prices are equal - not so in all states.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/>
              <a:t>Since there are fewer missing values in the data set for weekend ticket prices, the </a:t>
            </a:r>
            <a:r>
              <a:rPr lang="en-AU" sz="1000"/>
              <a:t>analysis will continue wiith weekend ticket price</a:t>
            </a:r>
            <a:endParaRPr sz="1000"/>
          </a:p>
        </p:txBody>
      </p:sp>
      <p:sp>
        <p:nvSpPr>
          <p:cNvPr id="68" name="Google Shape;68;p4"/>
          <p:cNvSpPr/>
          <p:nvPr/>
        </p:nvSpPr>
        <p:spPr>
          <a:xfrm>
            <a:off x="6633337" y="6524418"/>
            <a:ext cx="432000" cy="205200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7028512" y="6513711"/>
            <a:ext cx="432000" cy="216000"/>
          </a:xfrm>
          <a:prstGeom prst="chevron">
            <a:avLst>
              <a:gd fmla="val 50000" name="adj"/>
            </a:avLst>
          </a:prstGeom>
          <a:solidFill>
            <a:srgbClr val="F1A2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7452320" y="6503004"/>
            <a:ext cx="432000" cy="216000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7846662" y="6508081"/>
            <a:ext cx="432000" cy="216000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245692" y="6503004"/>
            <a:ext cx="432000" cy="216000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099130" y="707128"/>
            <a:ext cx="432000" cy="205200"/>
          </a:xfrm>
          <a:prstGeom prst="chevron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AU" sz="12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21750" y="116631"/>
            <a:ext cx="7725000" cy="1137000"/>
          </a:xfrm>
          <a:prstGeom prst="wedgeRectCallout">
            <a:avLst>
              <a:gd fmla="val 53513" name="adj1"/>
              <a:gd fmla="val 6588" name="adj2"/>
            </a:avLst>
          </a:prstGeom>
          <a:solidFill>
            <a:srgbClr val="FEF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 txBox="1"/>
          <p:nvPr>
            <p:ph type="title"/>
          </p:nvPr>
        </p:nvSpPr>
        <p:spPr>
          <a:xfrm>
            <a:off x="184140" y="189590"/>
            <a:ext cx="879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sz="2000">
                <a:solidFill>
                  <a:srgbClr val="2974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Wrangling</a:t>
            </a:r>
            <a:endParaRPr/>
          </a:p>
        </p:txBody>
      </p:sp>
      <p:sp>
        <p:nvSpPr>
          <p:cNvPr id="76" name="Google Shape;76;p4"/>
          <p:cNvSpPr txBox="1"/>
          <p:nvPr/>
        </p:nvSpPr>
        <p:spPr>
          <a:xfrm>
            <a:off x="184150" y="563575"/>
            <a:ext cx="80055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AU"/>
              <a:t>Collecting the data, organizing it, and making sure it's well defined.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9954" y="4268625"/>
            <a:ext cx="2797796" cy="1969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8" name="Google Shape;78;p4"/>
          <p:cNvGraphicFramePr/>
          <p:nvPr/>
        </p:nvGraphicFramePr>
        <p:xfrm>
          <a:off x="4668375" y="2511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{98EA9A89-1F20-40D1-A1E0-5A71F5955D58}</a:tableStyleId>
              </a:tblPr>
              <a:tblGrid>
                <a:gridCol w="1216375"/>
                <a:gridCol w="1386675"/>
                <a:gridCol w="1544800"/>
              </a:tblGrid>
              <a:tr h="1411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AU" sz="1000"/>
                        <a:t>State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AU" sz="1000"/>
                        <a:t>Resorts per State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AU" sz="1000"/>
                        <a:t>State Skiable acres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18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Colorado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22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43,682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18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Utah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13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30,508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18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California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21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25,948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18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Montana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A2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12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A2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21,410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A205"/>
                    </a:solidFill>
                  </a:tcPr>
                </a:tc>
              </a:tr>
              <a:tr h="1318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Idaho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12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16,396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9" name="Google Shape;79;p4"/>
          <p:cNvSpPr txBox="1"/>
          <p:nvPr/>
        </p:nvSpPr>
        <p:spPr>
          <a:xfrm>
            <a:off x="4688350" y="1654100"/>
            <a:ext cx="410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32">
                <a:solidFill>
                  <a:schemeClr val="dk1"/>
                </a:solidFill>
              </a:rPr>
              <a:t>Montana is in the top 5 ski states in the US</a:t>
            </a:r>
            <a:endParaRPr sz="1432">
              <a:solidFill>
                <a:schemeClr val="dk1"/>
              </a:solidFill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4718800" y="1992375"/>
            <a:ext cx="42051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32">
                <a:solidFill>
                  <a:schemeClr val="dk1"/>
                </a:solidFill>
              </a:rPr>
              <a:t>For number of resorts and skiable acres. </a:t>
            </a:r>
            <a:endParaRPr sz="103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32">
                <a:solidFill>
                  <a:schemeClr val="dk1"/>
                </a:solidFill>
              </a:rPr>
              <a:t>In Exploratory data </a:t>
            </a:r>
            <a:endParaRPr sz="1032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/>
          <p:nvPr/>
        </p:nvSpPr>
        <p:spPr>
          <a:xfrm>
            <a:off x="48725" y="1576025"/>
            <a:ext cx="4418400" cy="4681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t/>
            </a:r>
            <a:endParaRPr b="0" i="0" sz="14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587388" y="1576013"/>
            <a:ext cx="4344300" cy="4681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t/>
            </a:r>
            <a:endParaRPr b="0" i="0" sz="14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218936" y="1618127"/>
            <a:ext cx="288300" cy="288300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2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01195" y="1650181"/>
            <a:ext cx="35976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Montana is in the top 5 ski states in the 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218936" y="4206096"/>
            <a:ext cx="288300" cy="288300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01195" y="4238190"/>
            <a:ext cx="35976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Evaluate by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668386" y="1618135"/>
            <a:ext cx="288300" cy="288300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050645" y="1652422"/>
            <a:ext cx="359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Resort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48725" y="1906425"/>
            <a:ext cx="4324500" cy="22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rPr lang="en-AU" sz="1000"/>
              <a:t>For number of resorts and skiable acres, but 27th in average ticket price.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t/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t/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t/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t/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t/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t/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t/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t/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t/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t/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t/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rPr b="1" lang="en-AU" sz="1000"/>
              <a:t>At $81, Big Mountain Resort is priced at a 36% premium over Montana’s average price.</a:t>
            </a:r>
            <a:endParaRPr b="1" sz="1000"/>
          </a:p>
        </p:txBody>
      </p:sp>
      <p:sp>
        <p:nvSpPr>
          <p:cNvPr id="95" name="Google Shape;95;p5"/>
          <p:cNvSpPr txBox="1"/>
          <p:nvPr/>
        </p:nvSpPr>
        <p:spPr>
          <a:xfrm>
            <a:off x="4580050" y="2055824"/>
            <a:ext cx="43245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660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-AU" sz="1071"/>
              <a:t>Linear relationships between resort features and price </a:t>
            </a:r>
            <a:r>
              <a:rPr lang="en-AU" sz="1071"/>
              <a:t>yielded</a:t>
            </a:r>
            <a:r>
              <a:rPr lang="en-AU" sz="1071"/>
              <a:t> several interesting </a:t>
            </a:r>
            <a:r>
              <a:rPr lang="en-AU" sz="1071"/>
              <a:t>possibilities</a:t>
            </a:r>
            <a:r>
              <a:rPr lang="en-AU" sz="1071"/>
              <a:t> for building a price prediction model:</a:t>
            </a:r>
            <a:endParaRPr sz="107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1"/>
          </a:p>
        </p:txBody>
      </p:sp>
      <p:sp>
        <p:nvSpPr>
          <p:cNvPr id="96" name="Google Shape;96;p5"/>
          <p:cNvSpPr txBox="1"/>
          <p:nvPr/>
        </p:nvSpPr>
        <p:spPr>
          <a:xfrm>
            <a:off x="95675" y="4558169"/>
            <a:ext cx="4324500" cy="15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6608" lvl="0" marL="457200" rtl="0" algn="l"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-AU" sz="1071"/>
              <a:t>Using the state population data, considered:</a:t>
            </a:r>
            <a:endParaRPr sz="1071"/>
          </a:p>
          <a:p>
            <a:pPr indent="-296608" lvl="1" marL="914400" rtl="0" algn="l">
              <a:spcBef>
                <a:spcPts val="0"/>
              </a:spcBef>
              <a:spcAft>
                <a:spcPts val="0"/>
              </a:spcAft>
              <a:buSzPts val="1071"/>
              <a:buChar char="○"/>
            </a:pPr>
            <a:r>
              <a:rPr lang="en-AU" sz="1071"/>
              <a:t>State size, population, resorts per state</a:t>
            </a:r>
            <a:endParaRPr sz="1071"/>
          </a:p>
          <a:p>
            <a:pPr indent="-296608" lvl="1" marL="914400" rtl="0" algn="l">
              <a:spcBef>
                <a:spcPts val="0"/>
              </a:spcBef>
              <a:spcAft>
                <a:spcPts val="0"/>
              </a:spcAft>
              <a:buSzPts val="1071"/>
              <a:buChar char="○"/>
            </a:pPr>
            <a:r>
              <a:rPr lang="en-AU" sz="1071"/>
              <a:t>Total skiable area, night skiing area</a:t>
            </a:r>
            <a:endParaRPr sz="1071"/>
          </a:p>
          <a:p>
            <a:pPr indent="-296608" lvl="1" marL="914400" rtl="0" algn="l">
              <a:spcBef>
                <a:spcPts val="0"/>
              </a:spcBef>
              <a:spcAft>
                <a:spcPts val="0"/>
              </a:spcAft>
              <a:buSzPts val="1071"/>
              <a:buChar char="○"/>
            </a:pPr>
            <a:r>
              <a:rPr lang="en-AU" sz="1071"/>
              <a:t>Days open</a:t>
            </a:r>
            <a:endParaRPr sz="1071"/>
          </a:p>
          <a:p>
            <a:pPr indent="-296608" lvl="1" marL="914400" rtl="0" algn="l">
              <a:spcBef>
                <a:spcPts val="0"/>
              </a:spcBef>
              <a:spcAft>
                <a:spcPts val="0"/>
              </a:spcAft>
              <a:buSzPts val="1071"/>
              <a:buChar char="○"/>
            </a:pPr>
            <a:r>
              <a:rPr lang="en-AU" sz="1071"/>
              <a:t>Resort density</a:t>
            </a:r>
            <a:endParaRPr sz="1071"/>
          </a:p>
          <a:p>
            <a:pPr indent="-296608" lvl="0" marL="457200" rtl="0" algn="l"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-AU" sz="1071"/>
              <a:t>Per-state measurements were not conclusive</a:t>
            </a:r>
            <a:endParaRPr sz="107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1"/>
          </a:p>
        </p:txBody>
      </p:sp>
      <p:sp>
        <p:nvSpPr>
          <p:cNvPr id="97" name="Google Shape;97;p5"/>
          <p:cNvSpPr/>
          <p:nvPr/>
        </p:nvSpPr>
        <p:spPr>
          <a:xfrm>
            <a:off x="6633337" y="6524418"/>
            <a:ext cx="432000" cy="205200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028512" y="6513711"/>
            <a:ext cx="432000" cy="216000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452320" y="6503004"/>
            <a:ext cx="432000" cy="2160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7846662" y="6508081"/>
            <a:ext cx="432000" cy="216000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245692" y="6503004"/>
            <a:ext cx="432000" cy="216000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099130" y="707128"/>
            <a:ext cx="432000" cy="205200"/>
          </a:xfrm>
          <a:prstGeom prst="chevron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AU" sz="12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21750" y="116631"/>
            <a:ext cx="7725000" cy="1137000"/>
          </a:xfrm>
          <a:prstGeom prst="wedgeRectCallout">
            <a:avLst>
              <a:gd fmla="val 53513" name="adj1"/>
              <a:gd fmla="val 6588" name="adj2"/>
            </a:avLst>
          </a:prstGeom>
          <a:solidFill>
            <a:srgbClr val="FEF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 txBox="1"/>
          <p:nvPr>
            <p:ph type="title"/>
          </p:nvPr>
        </p:nvSpPr>
        <p:spPr>
          <a:xfrm>
            <a:off x="184140" y="189590"/>
            <a:ext cx="879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sz="2000">
                <a:solidFill>
                  <a:srgbClr val="2974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Exploratory Data Analysis</a:t>
            </a:r>
            <a:endParaRPr/>
          </a:p>
        </p:txBody>
      </p:sp>
      <p:sp>
        <p:nvSpPr>
          <p:cNvPr id="105" name="Google Shape;105;p5"/>
          <p:cNvSpPr txBox="1"/>
          <p:nvPr/>
        </p:nvSpPr>
        <p:spPr>
          <a:xfrm>
            <a:off x="184150" y="563575"/>
            <a:ext cx="80055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AU"/>
              <a:t>Which ski resort features are related to difference in price?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6" name="Google Shape;106;p5"/>
          <p:cNvGraphicFramePr/>
          <p:nvPr/>
        </p:nvGraphicFramePr>
        <p:xfrm>
          <a:off x="95663" y="2166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{98EA9A89-1F20-40D1-A1E0-5A71F5955D58}</a:tableStyleId>
              </a:tblPr>
              <a:tblGrid>
                <a:gridCol w="970725"/>
                <a:gridCol w="707100"/>
                <a:gridCol w="871525"/>
                <a:gridCol w="971475"/>
                <a:gridCol w="803700"/>
              </a:tblGrid>
              <a:tr h="4328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AU" sz="800"/>
                        <a:t>State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AU" sz="800"/>
                        <a:t>Resorts per State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AU" sz="800"/>
                        <a:t>State Skiable acres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AU" sz="800"/>
                        <a:t>Average Ticket Price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AU" sz="800"/>
                        <a:t>Price Rank in US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27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Colorado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22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43,682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$93.00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27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Utah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13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30,508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$90.71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27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California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21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25,948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$81.42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27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Montana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A2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12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A2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21,410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A2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$51.91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A2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27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A205"/>
                    </a:solidFill>
                  </a:tcPr>
                </a:tc>
              </a:tr>
              <a:tr h="2027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Idaho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12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16,396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$55.90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000"/>
                        <a:t>24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7" name="Google Shape;10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7400" y="2860025"/>
            <a:ext cx="2193925" cy="112708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08" name="Google Shape;108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7787" y="2860025"/>
            <a:ext cx="2193913" cy="1137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09" name="Google Shape;109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7400" y="4063298"/>
            <a:ext cx="2193925" cy="122697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10" name="Google Shape;110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81325" y="4101825"/>
            <a:ext cx="2193925" cy="1149914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11" name="Google Shape;111;p5"/>
          <p:cNvSpPr txBox="1"/>
          <p:nvPr/>
        </p:nvSpPr>
        <p:spPr>
          <a:xfrm>
            <a:off x="4580050" y="5251750"/>
            <a:ext cx="4418400" cy="10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71"/>
              <a:t>Proceed with the following features and request number of visitors per year</a:t>
            </a:r>
            <a:endParaRPr sz="1071"/>
          </a:p>
          <a:p>
            <a:pPr indent="-296608" lvl="0" marL="457200" rtl="0" algn="l"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-AU" sz="1071"/>
              <a:t>V</a:t>
            </a:r>
            <a:r>
              <a:rPr lang="en-AU" sz="1071"/>
              <a:t>ertical_drop</a:t>
            </a:r>
            <a:endParaRPr sz="1071"/>
          </a:p>
          <a:p>
            <a:pPr indent="-296608" lvl="0" marL="457200" rtl="0" algn="l"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-AU" sz="1071"/>
              <a:t>fastQuads</a:t>
            </a:r>
            <a:endParaRPr sz="1071"/>
          </a:p>
          <a:p>
            <a:pPr indent="-296608" lvl="0" marL="457200" rtl="0" algn="l"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-AU" sz="1071"/>
              <a:t>Runs</a:t>
            </a:r>
            <a:endParaRPr sz="1071"/>
          </a:p>
          <a:p>
            <a:pPr indent="-296608" lvl="0" marL="457200" rtl="0" algn="l"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-AU" sz="1071"/>
              <a:t>total_chairs</a:t>
            </a:r>
            <a:endParaRPr sz="107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/>
          <p:nvPr/>
        </p:nvSpPr>
        <p:spPr>
          <a:xfrm>
            <a:off x="48725" y="1576025"/>
            <a:ext cx="4418400" cy="4681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t/>
            </a:r>
            <a:endParaRPr b="0" i="0" sz="14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87388" y="1576013"/>
            <a:ext cx="4344300" cy="4681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t/>
            </a:r>
            <a:endParaRPr b="0" i="0" sz="14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218936" y="1618127"/>
            <a:ext cx="288300" cy="288300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2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01195" y="1650181"/>
            <a:ext cx="35976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Data preparation and initial statistics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218936" y="4129896"/>
            <a:ext cx="288300" cy="288300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01195" y="4161990"/>
            <a:ext cx="35976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Data preparation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668386" y="1618135"/>
            <a:ext cx="288300" cy="288300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050645" y="1652422"/>
            <a:ext cx="359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Refine the linear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4597300" y="1939238"/>
            <a:ext cx="4324500" cy="10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660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-AU" sz="1071"/>
              <a:t>Check for overfitting (fitting the training data so closely that it will fail to fit or predict additional or future data)</a:t>
            </a:r>
            <a:endParaRPr sz="1071"/>
          </a:p>
          <a:p>
            <a:pPr indent="-29660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-AU" sz="1071"/>
              <a:t>Select the best features based on univariate statistical tests</a:t>
            </a:r>
            <a:endParaRPr sz="107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1"/>
          </a:p>
        </p:txBody>
      </p:sp>
      <p:sp>
        <p:nvSpPr>
          <p:cNvPr id="126" name="Google Shape;126;p6"/>
          <p:cNvSpPr txBox="1"/>
          <p:nvPr/>
        </p:nvSpPr>
        <p:spPr>
          <a:xfrm>
            <a:off x="95675" y="4481969"/>
            <a:ext cx="4324500" cy="15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6608" lvl="0" marL="457200" rtl="0" algn="l"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-AU" sz="1071"/>
              <a:t>Impute missing values</a:t>
            </a:r>
            <a:endParaRPr sz="1071"/>
          </a:p>
          <a:p>
            <a:pPr indent="-296608" lvl="1" marL="914400" rtl="0" algn="l">
              <a:spcBef>
                <a:spcPts val="0"/>
              </a:spcBef>
              <a:spcAft>
                <a:spcPts val="0"/>
              </a:spcAft>
              <a:buSzPts val="1071"/>
              <a:buChar char="○"/>
            </a:pPr>
            <a:r>
              <a:rPr lang="en-AU" sz="1071"/>
              <a:t>Test with mean and median - in this case, no difference</a:t>
            </a:r>
            <a:endParaRPr sz="1071"/>
          </a:p>
          <a:p>
            <a:pPr indent="-296608" lvl="0" marL="457200" rtl="0" algn="l"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-AU" sz="1071"/>
              <a:t>Scale the data so values are comparable:</a:t>
            </a:r>
            <a:endParaRPr sz="1071"/>
          </a:p>
          <a:p>
            <a:pPr indent="-296608" lvl="1" marL="914400" rtl="0" algn="l">
              <a:spcBef>
                <a:spcPts val="0"/>
              </a:spcBef>
              <a:spcAft>
                <a:spcPts val="0"/>
              </a:spcAft>
              <a:buSzPts val="1071"/>
              <a:buChar char="○"/>
            </a:pPr>
            <a:r>
              <a:rPr lang="en-AU" sz="1071"/>
              <a:t>Zero mean and zero unit variance</a:t>
            </a:r>
            <a:endParaRPr sz="1071"/>
          </a:p>
        </p:txBody>
      </p:sp>
      <p:sp>
        <p:nvSpPr>
          <p:cNvPr id="127" name="Google Shape;127;p6"/>
          <p:cNvSpPr/>
          <p:nvPr/>
        </p:nvSpPr>
        <p:spPr>
          <a:xfrm>
            <a:off x="6633337" y="6524418"/>
            <a:ext cx="432000" cy="205200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7028512" y="6513711"/>
            <a:ext cx="432000" cy="216000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452320" y="6503004"/>
            <a:ext cx="432000" cy="216000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846662" y="6508081"/>
            <a:ext cx="432000" cy="216000"/>
          </a:xfrm>
          <a:prstGeom prst="chevron">
            <a:avLst>
              <a:gd fmla="val 50000" name="adj"/>
            </a:avLst>
          </a:prstGeom>
          <a:solidFill>
            <a:srgbClr val="F1A2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8245692" y="6503004"/>
            <a:ext cx="432000" cy="216000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099130" y="707128"/>
            <a:ext cx="432000" cy="205200"/>
          </a:xfrm>
          <a:prstGeom prst="chevron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AU" sz="12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21750" y="116631"/>
            <a:ext cx="7725000" cy="1137000"/>
          </a:xfrm>
          <a:prstGeom prst="wedgeRectCallout">
            <a:avLst>
              <a:gd fmla="val 53513" name="adj1"/>
              <a:gd fmla="val 6588" name="adj2"/>
            </a:avLst>
          </a:prstGeom>
          <a:solidFill>
            <a:srgbClr val="FEF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184140" y="189590"/>
            <a:ext cx="879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sz="2000">
                <a:solidFill>
                  <a:srgbClr val="2974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Preprocessing and Training</a:t>
            </a:r>
            <a:endParaRPr/>
          </a:p>
        </p:txBody>
      </p:sp>
      <p:sp>
        <p:nvSpPr>
          <p:cNvPr id="135" name="Google Shape;135;p6"/>
          <p:cNvSpPr txBox="1"/>
          <p:nvPr/>
        </p:nvSpPr>
        <p:spPr>
          <a:xfrm>
            <a:off x="184150" y="563575"/>
            <a:ext cx="80055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AU"/>
              <a:t>Can the data be used to build a model that predicts ticket price</a:t>
            </a:r>
            <a:r>
              <a:rPr b="1" lang="en-AU"/>
              <a:t>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4587400" y="3923225"/>
            <a:ext cx="43443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435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71"/>
              <a:t>Cross-validation score peaks at a training test size of between 40 - 50. This data set is large enough.</a:t>
            </a:r>
            <a:endParaRPr sz="1071"/>
          </a:p>
        </p:txBody>
      </p:sp>
      <p:sp>
        <p:nvSpPr>
          <p:cNvPr id="137" name="Google Shape;137;p6"/>
          <p:cNvSpPr txBox="1"/>
          <p:nvPr/>
        </p:nvSpPr>
        <p:spPr>
          <a:xfrm>
            <a:off x="218925" y="1954038"/>
            <a:ext cx="4168500" cy="21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-AU" sz="1050">
                <a:solidFill>
                  <a:schemeClr val="dk1"/>
                </a:solidFill>
              </a:rPr>
              <a:t>Split the data into training and testing sets. Evaluate whether the mean is a good predictor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-AU" sz="1050">
                <a:solidFill>
                  <a:schemeClr val="dk1"/>
                </a:solidFill>
              </a:rPr>
              <a:t>Use R</a:t>
            </a:r>
            <a:r>
              <a:rPr baseline="30000" lang="en-AU" sz="1050">
                <a:solidFill>
                  <a:schemeClr val="dk1"/>
                </a:solidFill>
              </a:rPr>
              <a:t>2</a:t>
            </a:r>
            <a:r>
              <a:rPr lang="en-AU" sz="1050">
                <a:solidFill>
                  <a:schemeClr val="dk1"/>
                </a:solidFill>
              </a:rPr>
              <a:t> to measure the </a:t>
            </a:r>
            <a:r>
              <a:rPr lang="en-AU" sz="1050">
                <a:solidFill>
                  <a:schemeClr val="dk1"/>
                </a:solidFill>
              </a:rPr>
              <a:t>proportion of variance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-AU" sz="1050">
                <a:solidFill>
                  <a:schemeClr val="dk1"/>
                </a:solidFill>
              </a:rPr>
              <a:t>Summarize the difference between predicted and actual values: </a:t>
            </a:r>
            <a:endParaRPr sz="1050">
              <a:solidFill>
                <a:schemeClr val="dk1"/>
              </a:solidFill>
            </a:endParaRPr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lang="en-AU" sz="1050">
                <a:solidFill>
                  <a:schemeClr val="dk1"/>
                </a:solidFill>
              </a:rPr>
              <a:t>Mean absolute error (MAE) : </a:t>
            </a:r>
            <a:r>
              <a:rPr lang="en-AU" sz="1050">
                <a:highlight>
                  <a:srgbClr val="FFFFFF"/>
                </a:highlight>
              </a:rPr>
              <a:t>on average, you might expect to be off by around $19 if you guessed ticket price based on an average of known values.</a:t>
            </a:r>
            <a:endParaRPr sz="1050">
              <a:solidFill>
                <a:schemeClr val="dk1"/>
              </a:solidFill>
            </a:endParaRPr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○"/>
            </a:pPr>
            <a:r>
              <a:rPr lang="en-AU" sz="1050">
                <a:solidFill>
                  <a:schemeClr val="dk1"/>
                </a:solidFill>
              </a:rPr>
              <a:t>Mean squared error (MSE) and root mean square error:</a:t>
            </a:r>
            <a:r>
              <a:rPr lang="en-AU" sz="1050">
                <a:highlight>
                  <a:srgbClr val="FFFFFF"/>
                </a:highlight>
              </a:rPr>
              <a:t>you might expect to be off by around $2</a:t>
            </a:r>
            <a:r>
              <a:rPr lang="en-AU" sz="1050">
                <a:solidFill>
                  <a:schemeClr val="dk1"/>
                </a:solidFill>
              </a:rPr>
              <a:t>5</a:t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4597300" y="2428450"/>
            <a:ext cx="4324500" cy="10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660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-AU" sz="1071"/>
              <a:t>Cross-validate using random forest regressor</a:t>
            </a:r>
            <a:endParaRPr sz="1071"/>
          </a:p>
          <a:p>
            <a:pPr indent="-296608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1"/>
              <a:buChar char="○"/>
            </a:pPr>
            <a:r>
              <a:rPr lang="en-AU" sz="1071"/>
              <a:t>With and without feature scaling</a:t>
            </a:r>
            <a:endParaRPr sz="1071"/>
          </a:p>
          <a:p>
            <a:pPr indent="-296608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1"/>
              <a:buChar char="○"/>
            </a:pPr>
            <a:r>
              <a:rPr lang="en-AU" sz="1071"/>
              <a:t>Mean and median for imputing missing values</a:t>
            </a:r>
            <a:endParaRPr sz="107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71"/>
              <a:t>T</a:t>
            </a:r>
            <a:r>
              <a:rPr lang="en-AU" sz="1071"/>
              <a:t>he dominant top four features are in common with the linear model:</a:t>
            </a:r>
            <a:endParaRPr sz="107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71"/>
              <a:t>fastQuads, Runs, Snow Making_ac, vertical_drop</a:t>
            </a:r>
            <a:endParaRPr sz="1071"/>
          </a:p>
        </p:txBody>
      </p:sp>
      <p:sp>
        <p:nvSpPr>
          <p:cNvPr id="139" name="Google Shape;139;p6"/>
          <p:cNvSpPr/>
          <p:nvPr/>
        </p:nvSpPr>
        <p:spPr>
          <a:xfrm>
            <a:off x="4668386" y="3477760"/>
            <a:ext cx="288300" cy="288300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lt1"/>
                </a:solidFill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050645" y="3512047"/>
            <a:ext cx="359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Evaluate whether more data is needed to confirm model 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071" y="4297450"/>
            <a:ext cx="3742729" cy="192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93975" y="1576025"/>
            <a:ext cx="4418400" cy="4681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t/>
            </a:r>
            <a:endParaRPr b="0" i="0" sz="14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587388" y="1576013"/>
            <a:ext cx="4344300" cy="4681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t/>
            </a:r>
            <a:endParaRPr b="0" i="0" sz="14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218936" y="1618127"/>
            <a:ext cx="288300" cy="288300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2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01195" y="1650181"/>
            <a:ext cx="35976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Calculate Expected Big Mountain Ticket Price From The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218936" y="3215496"/>
            <a:ext cx="288300" cy="288300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01195" y="3247590"/>
            <a:ext cx="35976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Business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668386" y="1618135"/>
            <a:ext cx="288300" cy="288300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050645" y="1652422"/>
            <a:ext cx="359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Evaluate business questions against the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4597300" y="1974625"/>
            <a:ext cx="4324500" cy="29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52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lang="en-AU" sz="1050">
                <a:highlight>
                  <a:srgbClr val="FFFFFF"/>
                </a:highlight>
              </a:rPr>
              <a:t>Calculate changes to ticket price and revenue based on each option.</a:t>
            </a:r>
            <a:endParaRPr sz="1050">
              <a:highlight>
                <a:srgbClr val="FFFFFF"/>
              </a:highlight>
            </a:endParaRPr>
          </a:p>
          <a:p>
            <a:pPr indent="-2952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lang="en-AU" sz="1050">
                <a:highlight>
                  <a:srgbClr val="FFFFFF"/>
                </a:highlight>
              </a:rPr>
              <a:t>The expected number of visitors over the season is 350,000 and on average, visitors ski for five days.</a:t>
            </a:r>
            <a:r>
              <a:rPr lang="en-AU" sz="1050"/>
              <a:t> </a:t>
            </a:r>
            <a:endParaRPr sz="10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1"/>
          </a:p>
          <a:p>
            <a:pPr indent="-29025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71"/>
              <a:buAutoNum type="arabicPeriod"/>
            </a:pPr>
            <a:r>
              <a:rPr b="1" lang="en-AU" sz="971"/>
              <a:t>Close runs?</a:t>
            </a:r>
            <a:r>
              <a:rPr lang="en-AU" sz="971"/>
              <a:t> Impact varies by number of runs closed. Closing 1 run makes no difference; between 3 - 5 runs, affects revenue -$1.6 million; . 6 or more -$1.8 to -$ 2.1 million..</a:t>
            </a:r>
            <a:endParaRPr sz="971"/>
          </a:p>
          <a:p>
            <a:pPr indent="-29025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71"/>
              <a:buAutoNum type="arabicPeriod"/>
            </a:pPr>
            <a:r>
              <a:rPr b="1" lang="en-AU" sz="971"/>
              <a:t>A</a:t>
            </a:r>
            <a:r>
              <a:rPr b="1" lang="en-AU" sz="971"/>
              <a:t>dd a run, increase the vertical drop by 150 feet, install an additional chair lift.</a:t>
            </a:r>
            <a:endParaRPr b="1" sz="971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971"/>
              <a:t>This scenario increases support for ticket price by $1.31</a:t>
            </a:r>
            <a:endParaRPr sz="971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971"/>
              <a:t>Over the season, this could be expected to amount to $2,295,082</a:t>
            </a:r>
            <a:endParaRPr sz="971"/>
          </a:p>
          <a:p>
            <a:pPr indent="-290258" lvl="0" marL="457200" rtl="0" algn="l">
              <a:spcBef>
                <a:spcPts val="0"/>
              </a:spcBef>
              <a:spcAft>
                <a:spcPts val="0"/>
              </a:spcAft>
              <a:buSzPts val="971"/>
              <a:buAutoNum type="arabicPeriod"/>
            </a:pPr>
            <a:r>
              <a:rPr b="1" lang="en-AU" sz="971"/>
              <a:t>Model 2 plus 2 acres of snow making.</a:t>
            </a:r>
            <a:endParaRPr b="1" sz="97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971"/>
              <a:t>	</a:t>
            </a:r>
            <a:r>
              <a:rPr lang="en-AU" sz="971"/>
              <a:t>Same revenue impact as model 2. </a:t>
            </a:r>
            <a:endParaRPr sz="971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971"/>
              <a:t>2 act of snow making does not shift ticket prices in this model.</a:t>
            </a:r>
            <a:endParaRPr b="1" sz="971"/>
          </a:p>
          <a:p>
            <a:pPr indent="-290258" lvl="0" marL="457200" rtl="0" algn="l">
              <a:spcBef>
                <a:spcPts val="0"/>
              </a:spcBef>
              <a:spcAft>
                <a:spcPts val="0"/>
              </a:spcAft>
              <a:buSzPts val="971"/>
              <a:buAutoNum type="arabicPeriod"/>
            </a:pPr>
            <a:r>
              <a:rPr b="1" lang="en-AU" sz="971"/>
              <a:t>Increasing the longest run by .2 miles and guaranteeing its snow coverage by adding 4 acres of snow making.</a:t>
            </a:r>
            <a:endParaRPr b="1" sz="97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971"/>
              <a:t>	$0 change to the ticket price or revenue</a:t>
            </a:r>
            <a:endParaRPr sz="97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1"/>
          </a:p>
        </p:txBody>
      </p:sp>
      <p:sp>
        <p:nvSpPr>
          <p:cNvPr id="156" name="Google Shape;156;p7"/>
          <p:cNvSpPr txBox="1"/>
          <p:nvPr/>
        </p:nvSpPr>
        <p:spPr>
          <a:xfrm>
            <a:off x="140925" y="3562852"/>
            <a:ext cx="4324500" cy="21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71"/>
              <a:t>Do any of these scenarios (aimed at cutting costs or increasing revenue) affect predicted ticket prices per the model?</a:t>
            </a:r>
            <a:endParaRPr sz="1071"/>
          </a:p>
          <a:p>
            <a:pPr indent="-296608" lvl="0" marL="457200" rtl="0" algn="l">
              <a:spcBef>
                <a:spcPts val="0"/>
              </a:spcBef>
              <a:spcAft>
                <a:spcPts val="0"/>
              </a:spcAft>
              <a:buSzPts val="1071"/>
              <a:buAutoNum type="arabicPeriod"/>
            </a:pPr>
            <a:r>
              <a:rPr lang="en-AU" sz="1071"/>
              <a:t>Permanently closing down up to 10 of the least used runs. This doesn't impact any other resort statistics.</a:t>
            </a:r>
            <a:endParaRPr sz="1071"/>
          </a:p>
          <a:p>
            <a:pPr indent="-296608" lvl="0" marL="457200" rtl="0" algn="l">
              <a:spcBef>
                <a:spcPts val="0"/>
              </a:spcBef>
              <a:spcAft>
                <a:spcPts val="0"/>
              </a:spcAft>
              <a:buSzPts val="1071"/>
              <a:buAutoNum type="arabicPeriod"/>
            </a:pPr>
            <a:r>
              <a:rPr lang="en-AU" sz="1071"/>
              <a:t>Increase the vertical drop by adding a run to a point 150 feet lower down but requiring the installation of an additional chair lift to bring skiers back up, without additional snow making coverage</a:t>
            </a:r>
            <a:endParaRPr sz="1071"/>
          </a:p>
          <a:p>
            <a:pPr indent="-296608" lvl="0" marL="457200" rtl="0" algn="l">
              <a:spcBef>
                <a:spcPts val="0"/>
              </a:spcBef>
              <a:spcAft>
                <a:spcPts val="0"/>
              </a:spcAft>
              <a:buSzPts val="1071"/>
              <a:buAutoNum type="arabicPeriod"/>
            </a:pPr>
            <a:r>
              <a:rPr lang="en-AU" sz="1071"/>
              <a:t>Same as number 2, but adding 2 acres of snow making cover</a:t>
            </a:r>
            <a:endParaRPr sz="1071"/>
          </a:p>
          <a:p>
            <a:pPr indent="-296608" lvl="0" marL="457200" rtl="0" algn="l">
              <a:spcBef>
                <a:spcPts val="0"/>
              </a:spcBef>
              <a:spcAft>
                <a:spcPts val="0"/>
              </a:spcAft>
              <a:buSzPts val="1071"/>
              <a:buAutoNum type="arabicPeriod"/>
            </a:pPr>
            <a:r>
              <a:rPr lang="en-AU" sz="1071"/>
              <a:t>Increase the longest run by 0.2 mile to boast 3.5 miles length, requiring an additional snow making coverage of 4 acres</a:t>
            </a:r>
            <a:endParaRPr sz="1071"/>
          </a:p>
        </p:txBody>
      </p:sp>
      <p:sp>
        <p:nvSpPr>
          <p:cNvPr id="157" name="Google Shape;157;p7"/>
          <p:cNvSpPr/>
          <p:nvPr/>
        </p:nvSpPr>
        <p:spPr>
          <a:xfrm>
            <a:off x="6633337" y="6524418"/>
            <a:ext cx="432000" cy="205200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028512" y="6513711"/>
            <a:ext cx="432000" cy="216000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452320" y="6503004"/>
            <a:ext cx="432000" cy="216000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846662" y="6508081"/>
            <a:ext cx="432000" cy="216000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8245692" y="6503004"/>
            <a:ext cx="432000" cy="216000"/>
          </a:xfrm>
          <a:prstGeom prst="chevron">
            <a:avLst>
              <a:gd fmla="val 50000" name="adj"/>
            </a:avLst>
          </a:prstGeom>
          <a:solidFill>
            <a:srgbClr val="F1A2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8099130" y="707128"/>
            <a:ext cx="432000" cy="205200"/>
          </a:xfrm>
          <a:prstGeom prst="chevron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AU" sz="12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21750" y="116631"/>
            <a:ext cx="7725000" cy="1137000"/>
          </a:xfrm>
          <a:prstGeom prst="wedgeRectCallout">
            <a:avLst>
              <a:gd fmla="val 53513" name="adj1"/>
              <a:gd fmla="val 6588" name="adj2"/>
            </a:avLst>
          </a:prstGeom>
          <a:solidFill>
            <a:srgbClr val="FEF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/>
          <p:nvPr>
            <p:ph type="title"/>
          </p:nvPr>
        </p:nvSpPr>
        <p:spPr>
          <a:xfrm>
            <a:off x="184140" y="189590"/>
            <a:ext cx="879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sz="2000">
                <a:solidFill>
                  <a:srgbClr val="2974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Predictions from the model</a:t>
            </a:r>
            <a:endParaRPr/>
          </a:p>
        </p:txBody>
      </p:sp>
      <p:sp>
        <p:nvSpPr>
          <p:cNvPr id="165" name="Google Shape;165;p7"/>
          <p:cNvSpPr txBox="1"/>
          <p:nvPr/>
        </p:nvSpPr>
        <p:spPr>
          <a:xfrm>
            <a:off x="184150" y="563575"/>
            <a:ext cx="80055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AU"/>
              <a:t>Can the model be used to answer business </a:t>
            </a:r>
            <a:r>
              <a:rPr b="1" lang="en-AU"/>
              <a:t>questions</a:t>
            </a:r>
            <a:r>
              <a:rPr b="1" lang="en-AU"/>
              <a:t>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4593900" y="5430525"/>
            <a:ext cx="427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4350" wrap="square" tIns="45700">
            <a:noAutofit/>
          </a:bodyPr>
          <a:lstStyle/>
          <a:p>
            <a:pPr indent="-296608" lvl="0" marL="457200" rtl="0" algn="l"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-AU" sz="1071"/>
              <a:t>Adding chair lifts</a:t>
            </a:r>
            <a:endParaRPr sz="1071"/>
          </a:p>
          <a:p>
            <a:pPr indent="-296608" lvl="0" marL="457200" rtl="0" algn="l"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-AU" sz="1071"/>
              <a:t>Selling more tickets </a:t>
            </a:r>
            <a:endParaRPr sz="1071"/>
          </a:p>
          <a:p>
            <a:pPr indent="-296608" lvl="0" marL="457200" rtl="0" algn="l"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-AU" sz="1071"/>
              <a:t>Other data about customers to increase revenue or drive down costs</a:t>
            </a:r>
            <a:endParaRPr sz="1071"/>
          </a:p>
        </p:txBody>
      </p:sp>
      <p:sp>
        <p:nvSpPr>
          <p:cNvPr id="167" name="Google Shape;167;p7"/>
          <p:cNvSpPr txBox="1"/>
          <p:nvPr/>
        </p:nvSpPr>
        <p:spPr>
          <a:xfrm>
            <a:off x="218925" y="1954044"/>
            <a:ext cx="41685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-AU" sz="1050">
                <a:solidFill>
                  <a:schemeClr val="dk1"/>
                </a:solidFill>
              </a:rPr>
              <a:t>A first cut – be skeptical: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-AU" sz="1050">
                <a:solidFill>
                  <a:schemeClr val="dk1"/>
                </a:solidFill>
              </a:rPr>
              <a:t>Big Mountain Resort modelled price is $94.58; currentl price is $81.00.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-AU" sz="1050">
                <a:solidFill>
                  <a:schemeClr val="dk1"/>
                </a:solidFill>
              </a:rPr>
              <a:t>Even with the expected mean absolute error of $10.29, this suggests there is room for an increase.</a:t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668386" y="5001760"/>
            <a:ext cx="288300" cy="288300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lt1"/>
                </a:solidFill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050645" y="5036047"/>
            <a:ext cx="359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Further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ynergy_CF_YNR002">
  <a:themeElements>
    <a:clrScheme name="Current">
      <a:dk1>
        <a:srgbClr val="002C46"/>
      </a:dk1>
      <a:lt1>
        <a:srgbClr val="FFFFFF"/>
      </a:lt1>
      <a:dk2>
        <a:srgbClr val="FBC14E"/>
      </a:dk2>
      <a:lt2>
        <a:srgbClr val="879C16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